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-514" y="-7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81.47</c:v>
                </c:pt>
                <c:pt idx="1">
                  <c:v>79.41</c:v>
                </c:pt>
                <c:pt idx="2">
                  <c:v>79.7</c:v>
                </c:pt>
                <c:pt idx="3">
                  <c:v>79.41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3993856"/>
        <c:axId val="144007936"/>
      </c:barChart>
      <c:catAx>
        <c:axId val="143993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5E8"/>
                </a:solidFill>
                <a:latin typeface="Arial"/>
              </a:defRPr>
            </a:pPr>
            <a:endParaRPr lang="en-US"/>
          </a:p>
        </c:txPr>
        <c:crossAx val="144007936"/>
        <c:crosses val="autoZero"/>
        <c:auto val="1"/>
        <c:lblAlgn val="ctr"/>
        <c:lblOffset val="100"/>
        <c:noMultiLvlLbl val="1"/>
      </c:catAx>
      <c:valAx>
        <c:axId val="144007936"/>
        <c:scaling>
          <c:orientation val="minMax"/>
          <c:max val="83"/>
          <c:min val="78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5E8"/>
                </a:solidFill>
                <a:latin typeface="Arial"/>
              </a:defRPr>
            </a:pPr>
            <a:endParaRPr lang="en-US"/>
          </a:p>
        </c:txPr>
        <c:crossAx val="143993856"/>
        <c:crosses val="autoZero"/>
        <c:crossBetween val="between"/>
      </c:valAx>
      <c:spPr>
        <a:solidFill>
          <a:srgbClr val="101C4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1C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PaymentMethod</c:v>
                </c:pt>
                <c:pt idx="1">
                  <c:v>Contract</c:v>
                </c:pt>
                <c:pt idx="2">
                  <c:v>Tenure</c:v>
                </c:pt>
                <c:pt idx="3">
                  <c:v>TotalCharges</c:v>
                </c:pt>
                <c:pt idx="4">
                  <c:v>MonthlyCharges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0.74</c:v>
                </c:pt>
                <c:pt idx="2">
                  <c:v>0.81</c:v>
                </c:pt>
                <c:pt idx="3">
                  <c:v>0.88</c:v>
                </c:pt>
                <c:pt idx="4">
                  <c:v>0.95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4157696"/>
        <c:axId val="144167680"/>
      </c:barChart>
      <c:catAx>
        <c:axId val="1441576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5E8"/>
                </a:solidFill>
                <a:latin typeface="Arial"/>
              </a:defRPr>
            </a:pPr>
            <a:endParaRPr lang="en-US"/>
          </a:p>
        </c:txPr>
        <c:crossAx val="144167680"/>
        <c:crosses val="autoZero"/>
        <c:auto val="1"/>
        <c:lblAlgn val="ctr"/>
        <c:lblOffset val="100"/>
        <c:noMultiLvlLbl val="1"/>
      </c:catAx>
      <c:valAx>
        <c:axId val="144167680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5E8"/>
                </a:solidFill>
                <a:latin typeface="Arial"/>
              </a:defRPr>
            </a:pPr>
            <a:endParaRPr lang="en-US"/>
          </a:p>
        </c:txPr>
        <c:crossAx val="144157696"/>
        <c:crosses val="autoZero"/>
        <c:crossBetween val="between"/>
      </c:valAx>
      <c:spPr>
        <a:solidFill>
          <a:srgbClr val="101C4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1C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91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2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1A4D">
              <a:alpha val="60000"/>
            </a:srgbClr>
          </a:solidFill>
          <a:ln w="12700">
            <a:solidFill>
              <a:srgbClr val="001A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01A4D">
              <a:alpha val="50000"/>
            </a:srgbClr>
          </a:solidFill>
          <a:ln w="12700">
            <a:solidFill>
              <a:srgbClr val="001A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002244">
              <a:alpha val="45000"/>
            </a:srgbClr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37160"/>
            <a:ext cx="2423160" cy="548640"/>
          </a:xfrm>
          <a:prstGeom prst="rect">
            <a:avLst/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37160"/>
            <a:ext cx="2423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5D5E8"/>
                </a:solidFill>
              </a:rPr>
              <a:t>MIT Academy of Engineering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5D5E8"/>
                </a:solidFill>
              </a:rPr>
              <a:t>Dept. of AIML | Alandi, Pune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640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00B8D9"/>
                </a:solidFill>
              </a:rPr>
              <a:t>MINI PROJECT PRESENTATION  ·  AIML ENGINEERING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1005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28600" y="17830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Techniques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" y="2359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 of Classification &amp; Ensemble Learning Models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743200"/>
            <a:ext cx="5029200" cy="228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834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E5FF"/>
                </a:solidFill>
              </a:rPr>
              <a:t>SUBMITTED BY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3090672"/>
            <a:ext cx="2468880" cy="475488"/>
          </a:xfrm>
          <a:prstGeom prst="rect">
            <a:avLst/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090672"/>
            <a:ext cx="45720" cy="47548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12724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Ragav Sharma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" y="3337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</a:rPr>
              <a:t>202401110012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34640" y="3090672"/>
            <a:ext cx="2468880" cy="475488"/>
          </a:xfrm>
          <a:prstGeom prst="rect">
            <a:avLst/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090672"/>
            <a:ext cx="45720" cy="47548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44368" y="312724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Parth Kitchloo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44368" y="3337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</a:rPr>
              <a:t>202401110014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2468880" cy="475488"/>
          </a:xfrm>
          <a:prstGeom prst="rect">
            <a:avLst/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657600"/>
            <a:ext cx="45720" cy="47548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694176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Gufran Shah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" y="3904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</a:rPr>
              <a:t>202401110011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34640" y="3657600"/>
            <a:ext cx="2468880" cy="475488"/>
          </a:xfrm>
          <a:prstGeom prst="rect">
            <a:avLst/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3657600"/>
            <a:ext cx="45720" cy="47548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3694176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Sandeep Kotwal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44368" y="3904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</a:rPr>
              <a:t>202401110052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0" y="91440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411480" cy="4114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583680" y="1024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5FF"/>
                </a:solidFill>
              </a:rPr>
              <a:t>4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658368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5E8"/>
                </a:solidFill>
              </a:rPr>
              <a:t>ML Models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943600" y="228600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606040"/>
            <a:ext cx="411480" cy="41148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583680" y="2395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81.47%</a:t>
            </a:r>
            <a:endParaRPr lang="en-US" sz="2600" dirty="0"/>
          </a:p>
        </p:txBody>
      </p:sp>
      <p:sp>
        <p:nvSpPr>
          <p:cNvPr id="38" name="Text 34"/>
          <p:cNvSpPr/>
          <p:nvPr/>
        </p:nvSpPr>
        <p:spPr>
          <a:xfrm>
            <a:off x="6583680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5E8"/>
                </a:solidFill>
              </a:rPr>
              <a:t>Best Accuracy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943600" y="365760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977640"/>
            <a:ext cx="411480" cy="41148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58368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</a:rPr>
              <a:t>7,043</a:t>
            </a:r>
            <a:endParaRPr lang="en-US" sz="2600" dirty="0"/>
          </a:p>
        </p:txBody>
      </p:sp>
      <p:sp>
        <p:nvSpPr>
          <p:cNvPr id="42" name="Text 37"/>
          <p:cNvSpPr/>
          <p:nvPr/>
        </p:nvSpPr>
        <p:spPr>
          <a:xfrm>
            <a:off x="6583680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5E8"/>
                </a:solidFill>
              </a:rPr>
              <a:t>Dataset Records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1A40"/>
          </a:solidFill>
          <a:ln w="12700">
            <a:solidFill>
              <a:srgbClr val="0E1A4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1440" y="485546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Telecom Analytics  ·  Machine Learning  ·  Customer Retention  ·  Classification  ·  Ensemble Learning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 in telecom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658368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713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What is Customer Churn?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10241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5D5E8"/>
                </a:solidFill>
              </a:rPr>
              <a:t>Churn means customers stop using a telecom service.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5D5E8"/>
                </a:solidFill>
              </a:rPr>
              <a:t>ML predicts customers likely to leave before it happens.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5D5E8"/>
                </a:solidFill>
              </a:rPr>
              <a:t>Early prediction helps companies retain customers.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5D5E8"/>
                </a:solidFill>
              </a:rPr>
              <a:t>It reduces revenue loss and improves service planning.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395728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01C4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96312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4088" y="2450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Business Impact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4088" y="26883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E8"/>
                </a:solidFill>
              </a:rPr>
              <a:t>Lower churn = higher retention = better revenue stability.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0" y="713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ML Prediction Workflow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1024128"/>
            <a:ext cx="1005840" cy="1188720"/>
          </a:xfrm>
          <a:prstGeom prst="roundRect">
            <a:avLst>
              <a:gd name="adj" fmla="val 10909"/>
            </a:avLst>
          </a:prstGeom>
          <a:solidFill>
            <a:srgbClr val="101C44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78992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26280" y="1572768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Customer Data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371600"/>
            <a:ext cx="164592" cy="16459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41848" y="1024128"/>
            <a:ext cx="1005840" cy="1188720"/>
          </a:xfrm>
          <a:prstGeom prst="roundRect">
            <a:avLst>
              <a:gd name="adj" fmla="val 10909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107899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41848" y="1572768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Usage Data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1371600"/>
            <a:ext cx="164592" cy="1645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757416" y="1024128"/>
            <a:ext cx="1005840" cy="1188720"/>
          </a:xfrm>
          <a:prstGeom prst="roundRect">
            <a:avLst>
              <a:gd name="adj" fmla="val 10909"/>
            </a:avLst>
          </a:prstGeom>
          <a:solidFill>
            <a:srgbClr val="101C44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1736" y="1078992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57416" y="1572768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ML Model</a:t>
            </a:r>
            <a:endParaRPr lang="en-US" sz="9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1371600"/>
            <a:ext cx="164592" cy="164592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7872984" y="1024128"/>
            <a:ext cx="1005840" cy="1188720"/>
          </a:xfrm>
          <a:prstGeom prst="roundRect">
            <a:avLst>
              <a:gd name="adj" fmla="val 10909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1078992"/>
            <a:ext cx="457200" cy="4572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872984" y="1572768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Prediction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4526280" y="2395728"/>
            <a:ext cx="4389120" cy="914400"/>
          </a:xfrm>
          <a:prstGeom prst="roundRect">
            <a:avLst>
              <a:gd name="adj" fmla="val 12000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2496312"/>
            <a:ext cx="365760" cy="36576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047488" y="2450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Project Goal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5047488" y="26883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5E8"/>
                </a:solidFill>
              </a:rPr>
              <a:t>Identify churn-prone customers using classification and ensemble learning techniques.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182880" y="3456432"/>
            <a:ext cx="8778240" cy="1389888"/>
          </a:xfrm>
          <a:prstGeom prst="roundRect">
            <a:avLst>
              <a:gd name="adj" fmla="val 7895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36576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</a:rPr>
              <a:t>Why Now?  Telecom Industry Insight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228600" y="3822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~30%</a:t>
            </a:r>
            <a:endParaRPr lang="en-US" sz="2400" dirty="0"/>
          </a:p>
        </p:txBody>
      </p:sp>
      <p:sp>
        <p:nvSpPr>
          <p:cNvPr id="41" name="Text 30"/>
          <p:cNvSpPr/>
          <p:nvPr/>
        </p:nvSpPr>
        <p:spPr>
          <a:xfrm>
            <a:off x="22860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Annual churn rate in telecom globally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3154680" y="3822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5×</a:t>
            </a:r>
            <a:endParaRPr lang="en-US" sz="2400" dirty="0"/>
          </a:p>
        </p:txBody>
      </p:sp>
      <p:sp>
        <p:nvSpPr>
          <p:cNvPr id="43" name="Text 32"/>
          <p:cNvSpPr/>
          <p:nvPr/>
        </p:nvSpPr>
        <p:spPr>
          <a:xfrm>
            <a:off x="315468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Cost to acquire vs retain a customer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6080760" y="3822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</a:rPr>
              <a:t>67%</a:t>
            </a:r>
            <a:endParaRPr lang="en-US" sz="2400" dirty="0"/>
          </a:p>
        </p:txBody>
      </p:sp>
      <p:sp>
        <p:nvSpPr>
          <p:cNvPr id="45" name="Text 34"/>
          <p:cNvSpPr/>
          <p:nvPr/>
        </p:nvSpPr>
        <p:spPr>
          <a:xfrm>
            <a:off x="608076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Churn caused by poor service quality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aims to solve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658368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01C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658368"/>
            <a:ext cx="54864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49808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731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0040" y="120700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5D5E8"/>
                </a:solidFill>
              </a:rPr>
              <a:t>Telecom companies lose revenue when customers disconnect services.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5D5E8"/>
                </a:solidFill>
              </a:rPr>
              <a:t>A predictive ML model can identify likely churn customers before they leave, enabling proactive retention actions.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658368"/>
            <a:ext cx="4343400" cy="1828800"/>
          </a:xfrm>
          <a:prstGeom prst="roundRect">
            <a:avLst>
              <a:gd name="adj" fmla="val 6000"/>
            </a:avLst>
          </a:prstGeom>
          <a:solidFill>
            <a:srgbClr val="101C4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731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Objectives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241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2920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E8"/>
                </a:solidFill>
              </a:rPr>
              <a:t>Analyze the Telco Customer Churn dataset</a:t>
            </a:r>
            <a:endParaRPr lang="en-US" sz="10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37160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292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E8"/>
                </a:solidFill>
              </a:rPr>
              <a:t>Build 4 ML classification models</a:t>
            </a:r>
            <a:endParaRPr lang="en-US" sz="10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171907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2920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E8"/>
                </a:solidFill>
              </a:rPr>
              <a:t>Compare model performance metrics</a:t>
            </a:r>
            <a:endParaRPr lang="en-US" sz="10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206654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29200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E8"/>
                </a:solidFill>
              </a:rPr>
              <a:t>Select the best-performing model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228600" y="2633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5FF"/>
                </a:solidFill>
              </a:rPr>
              <a:t>PROJECT PIPELINE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228600" y="2862072"/>
            <a:ext cx="8778240" cy="228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82880" y="2971800"/>
            <a:ext cx="1353312" cy="594360"/>
          </a:xfrm>
          <a:prstGeom prst="roundRect">
            <a:avLst>
              <a:gd name="adj" fmla="val 12308"/>
            </a:avLst>
          </a:prstGeom>
          <a:solidFill>
            <a:srgbClr val="101C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82880" y="29718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Dataset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1536192" y="3268980"/>
            <a:ext cx="128016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1664208" y="2971800"/>
            <a:ext cx="1353312" cy="594360"/>
          </a:xfrm>
          <a:prstGeom prst="roundRect">
            <a:avLst>
              <a:gd name="adj" fmla="val 12308"/>
            </a:avLst>
          </a:prstGeom>
          <a:solidFill>
            <a:srgbClr val="101C44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664208" y="29718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</a:rPr>
              <a:t>Cleaning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3017520" y="3268980"/>
            <a:ext cx="128016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145536" y="2971800"/>
            <a:ext cx="1353312" cy="594360"/>
          </a:xfrm>
          <a:prstGeom prst="roundRect">
            <a:avLst>
              <a:gd name="adj" fmla="val 12308"/>
            </a:avLst>
          </a:prstGeom>
          <a:solidFill>
            <a:srgbClr val="101C4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145536" y="29718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</a:rPr>
              <a:t>Encoding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498848" y="3268980"/>
            <a:ext cx="128016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626864" y="2971800"/>
            <a:ext cx="1353312" cy="594360"/>
          </a:xfrm>
          <a:prstGeom prst="roundRect">
            <a:avLst>
              <a:gd name="adj" fmla="val 12308"/>
            </a:avLst>
          </a:prstGeom>
          <a:solidFill>
            <a:srgbClr val="101C4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626864" y="29718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Scaling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980176" y="3268980"/>
            <a:ext cx="128016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108192" y="2971800"/>
            <a:ext cx="1353312" cy="594360"/>
          </a:xfrm>
          <a:prstGeom prst="roundRect">
            <a:avLst>
              <a:gd name="adj" fmla="val 12308"/>
            </a:avLst>
          </a:prstGeom>
          <a:solidFill>
            <a:srgbClr val="101C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108192" y="29718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Training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7461504" y="3268980"/>
            <a:ext cx="128016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589520" y="2971800"/>
            <a:ext cx="1353312" cy="594360"/>
          </a:xfrm>
          <a:prstGeom prst="roundRect">
            <a:avLst>
              <a:gd name="adj" fmla="val 12308"/>
            </a:avLst>
          </a:prstGeom>
          <a:solidFill>
            <a:srgbClr val="101C44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589520" y="297180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182880" y="3730752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101C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18288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$1.6T</a:t>
            </a:r>
            <a:endParaRPr lang="en-US" sz="2800" dirty="0"/>
          </a:p>
        </p:txBody>
      </p:sp>
      <p:sp>
        <p:nvSpPr>
          <p:cNvPr id="47" name="Text 40"/>
          <p:cNvSpPr/>
          <p:nvPr/>
        </p:nvSpPr>
        <p:spPr>
          <a:xfrm>
            <a:off x="182880" y="4315968"/>
            <a:ext cx="2834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Global telecom revenue at risk from churn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3182112" y="3730752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182112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30%</a:t>
            </a:r>
            <a:endParaRPr lang="en-US" sz="2800" dirty="0"/>
          </a:p>
        </p:txBody>
      </p:sp>
      <p:sp>
        <p:nvSpPr>
          <p:cNvPr id="50" name="Text 43"/>
          <p:cNvSpPr/>
          <p:nvPr/>
        </p:nvSpPr>
        <p:spPr>
          <a:xfrm>
            <a:off x="3182112" y="4315968"/>
            <a:ext cx="2834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Average annual customer churn in telecom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6181344" y="3730752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6181344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5×</a:t>
            </a:r>
            <a:endParaRPr lang="en-US" sz="2800" dirty="0"/>
          </a:p>
        </p:txBody>
      </p:sp>
      <p:sp>
        <p:nvSpPr>
          <p:cNvPr id="53" name="Text 46"/>
          <p:cNvSpPr/>
          <p:nvPr/>
        </p:nvSpPr>
        <p:spPr>
          <a:xfrm>
            <a:off x="6181344" y="4315968"/>
            <a:ext cx="2834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Cost of acquiring vs retaining a customer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 summary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685800"/>
            <a:ext cx="2057400" cy="1463040"/>
          </a:xfrm>
          <a:prstGeom prst="roundRect">
            <a:avLst>
              <a:gd name="adj" fmla="val 7500"/>
            </a:avLst>
          </a:prstGeom>
          <a:solidFill>
            <a:srgbClr val="101C4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685800"/>
            <a:ext cx="20574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2880" y="1188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</a:rPr>
              <a:t>7,043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82880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Records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2880" y="18928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Customer Entries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404872" y="685800"/>
            <a:ext cx="2057400" cy="1463040"/>
          </a:xfrm>
          <a:prstGeom prst="roundRect">
            <a:avLst>
              <a:gd name="adj" fmla="val 7500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04872" y="685800"/>
            <a:ext cx="20574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822960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404872" y="1188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21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2404872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404872" y="18928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Attributes / Columns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626864" y="685800"/>
            <a:ext cx="2057400" cy="1463040"/>
          </a:xfrm>
          <a:prstGeom prst="roundRect">
            <a:avLst>
              <a:gd name="adj" fmla="val 7500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26864" y="685800"/>
            <a:ext cx="2057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822960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26864" y="1188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Binary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4626864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 Type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626864" y="18928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Churn: Yes / No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848856" y="685800"/>
            <a:ext cx="2057400" cy="1463040"/>
          </a:xfrm>
          <a:prstGeom prst="roundRect">
            <a:avLst>
              <a:gd name="adj" fmla="val 7500"/>
            </a:avLst>
          </a:prstGeom>
          <a:solidFill>
            <a:srgbClr val="101C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48856" y="685800"/>
            <a:ext cx="20574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822960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48856" y="1188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</a:rPr>
              <a:t>Structured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6848856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Format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848856" y="18928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Tabular / CSV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182880" y="2331720"/>
            <a:ext cx="5303520" cy="2560320"/>
          </a:xfrm>
          <a:prstGeom prst="roundRect">
            <a:avLst>
              <a:gd name="adj" fmla="val 4286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47472" y="24048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Key Dataset Features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320040" y="280720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30352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MonthlyCharges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1938528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Monthly billing amount — high charges → higher churn risk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20040" y="32095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3035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TotalCharges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1938528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Cumulative charges — reflects customer tenure value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320040" y="361188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30352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Contract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1938528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Month-to-month vs long-term — key retention signal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320040" y="401421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530352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Tenure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1938528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Duration of service — longer tenure → lower churn risk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320040" y="441655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30352" y="4352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PaymentMethod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1938528" y="4352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Reflects customer behavior and commitment level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5669280" y="2331720"/>
            <a:ext cx="3291840" cy="1143000"/>
          </a:xfrm>
          <a:prstGeom prst="roundRect">
            <a:avLst>
              <a:gd name="adj" fmla="val 9600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5852160" y="239572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Target Variable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5852160" y="29352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Churn</a:t>
            </a:r>
            <a:endParaRPr lang="en-US" sz="2600" dirty="0"/>
          </a:p>
        </p:txBody>
      </p:sp>
      <p:sp>
        <p:nvSpPr>
          <p:cNvPr id="55" name="Shape 49"/>
          <p:cNvSpPr/>
          <p:nvPr/>
        </p:nvSpPr>
        <p:spPr>
          <a:xfrm>
            <a:off x="6583680" y="2715768"/>
            <a:ext cx="731520" cy="27432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6583680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</a:rPr>
              <a:t>YES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7406640" y="2715768"/>
            <a:ext cx="731520" cy="27432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406640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5669280" y="3584448"/>
            <a:ext cx="3291840" cy="1307592"/>
          </a:xfrm>
          <a:prstGeom prst="roundRect">
            <a:avLst>
              <a:gd name="adj" fmla="val 8392"/>
            </a:avLst>
          </a:prstGeom>
          <a:solidFill>
            <a:srgbClr val="101C4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3703320"/>
            <a:ext cx="347472" cy="347472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6172200" y="36484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Why This Dataset?</a:t>
            </a:r>
            <a:endParaRPr lang="en-US" sz="1200" dirty="0"/>
          </a:p>
        </p:txBody>
      </p:sp>
      <p:sp>
        <p:nvSpPr>
          <p:cNvPr id="62" name="Text 55"/>
          <p:cNvSpPr/>
          <p:nvPr/>
        </p:nvSpPr>
        <p:spPr>
          <a:xfrm>
            <a:off x="576072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Real-world telecom data, ideal for binary classification.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Publicly available on Kaggle/IBM repository.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data for machine learning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658368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101C4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658368"/>
            <a:ext cx="20574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841248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</a:rPr>
              <a:t>1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389888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4592" y="1874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Cleaning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6032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Removed unnecessary columns &amp; handled missing TotalCharges values.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1463040"/>
            <a:ext cx="182880" cy="182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377440" y="658368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377440" y="658368"/>
            <a:ext cx="20574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154680" y="841248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54680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</a:rPr>
              <a:t>2</a:t>
            </a:r>
            <a:endParaRPr lang="en-US" sz="16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1389888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377440" y="1874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Label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Encoding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46888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Converted categorical (Yes/No, gender, contract type) to numeric form.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463040"/>
            <a:ext cx="182880" cy="1828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590288" y="658368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101C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90288" y="658368"/>
            <a:ext cx="20574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367528" y="841248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67528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</a:rPr>
              <a:t>3</a:t>
            </a:r>
            <a:endParaRPr lang="en-US" sz="16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1389888"/>
            <a:ext cx="438912" cy="4389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90288" y="1874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Scaling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681728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Standardized numeric features (StandardScaler) for fair model training.</a:t>
            </a:r>
            <a:endParaRPr lang="en-US" sz="9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463040"/>
            <a:ext cx="182880" cy="18288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6803136" y="658368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803136" y="658368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580376" y="84124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580376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</a:rPr>
              <a:t>4</a:t>
            </a:r>
            <a:endParaRPr lang="en-US" sz="16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389888"/>
            <a:ext cx="438912" cy="43891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803136" y="1874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Train-Test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Split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6894576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</a:rPr>
              <a:t>Divided data 80% training / 20% testing for unbiased evaluation.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164592" y="3154680"/>
            <a:ext cx="8823960" cy="1783080"/>
          </a:xfrm>
          <a:prstGeom prst="roundRect">
            <a:avLst>
              <a:gd name="adj" fmla="val 6154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320040" y="3218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Preprocessing Details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164592" y="3547872"/>
            <a:ext cx="8823960" cy="310896"/>
          </a:xfrm>
          <a:prstGeom prst="rect">
            <a:avLst/>
          </a:prstGeom>
          <a:solidFill>
            <a:srgbClr val="0E1A40"/>
          </a:solidFill>
          <a:ln w="12700">
            <a:solidFill>
              <a:srgbClr val="0E1A40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56032" y="3547872"/>
            <a:ext cx="1737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8D9"/>
                </a:solidFill>
              </a:rPr>
              <a:t>Missing Values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2011680" y="3547872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TotalCharges had 11 blank rows — dropped or imputed</a:t>
            </a:r>
            <a:endParaRPr lang="en-US" sz="950" dirty="0"/>
          </a:p>
        </p:txBody>
      </p:sp>
      <p:sp>
        <p:nvSpPr>
          <p:cNvPr id="47" name="Text 38"/>
          <p:cNvSpPr/>
          <p:nvPr/>
        </p:nvSpPr>
        <p:spPr>
          <a:xfrm>
            <a:off x="6172200" y="3547872"/>
            <a:ext cx="27432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</a:rPr>
              <a:t>Clean, complete dataset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164592" y="3867912"/>
            <a:ext cx="8823960" cy="310896"/>
          </a:xfrm>
          <a:prstGeom prst="rect">
            <a:avLst/>
          </a:prstGeom>
          <a:solidFill>
            <a:srgbClr val="0A1535"/>
          </a:solidFill>
          <a:ln w="12700">
            <a:solidFill>
              <a:srgbClr val="0A1535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256032" y="3867912"/>
            <a:ext cx="1737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8D9"/>
                </a:solidFill>
              </a:rPr>
              <a:t>Encoding</a:t>
            </a:r>
            <a:endParaRPr lang="en-US" sz="950" dirty="0"/>
          </a:p>
        </p:txBody>
      </p:sp>
      <p:sp>
        <p:nvSpPr>
          <p:cNvPr id="50" name="Text 41"/>
          <p:cNvSpPr/>
          <p:nvPr/>
        </p:nvSpPr>
        <p:spPr>
          <a:xfrm>
            <a:off x="2011680" y="3867912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Binary (Yes/No) → 0/1; Multi-class → LabelEncoder</a:t>
            </a:r>
            <a:endParaRPr lang="en-US" sz="950" dirty="0"/>
          </a:p>
        </p:txBody>
      </p:sp>
      <p:sp>
        <p:nvSpPr>
          <p:cNvPr id="51" name="Text 42"/>
          <p:cNvSpPr/>
          <p:nvPr/>
        </p:nvSpPr>
        <p:spPr>
          <a:xfrm>
            <a:off x="6172200" y="3867912"/>
            <a:ext cx="27432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</a:rPr>
              <a:t>All-numeric feature matrix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164592" y="4187952"/>
            <a:ext cx="8823960" cy="310896"/>
          </a:xfrm>
          <a:prstGeom prst="rect">
            <a:avLst/>
          </a:prstGeom>
          <a:solidFill>
            <a:srgbClr val="0E1A40"/>
          </a:solidFill>
          <a:ln w="12700">
            <a:solidFill>
              <a:srgbClr val="0E1A40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256032" y="4187952"/>
            <a:ext cx="1737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8D9"/>
                </a:solidFill>
              </a:rPr>
              <a:t>Scaling</a:t>
            </a:r>
            <a:endParaRPr lang="en-US" sz="950" dirty="0"/>
          </a:p>
        </p:txBody>
      </p:sp>
      <p:sp>
        <p:nvSpPr>
          <p:cNvPr id="54" name="Text 45"/>
          <p:cNvSpPr/>
          <p:nvPr/>
        </p:nvSpPr>
        <p:spPr>
          <a:xfrm>
            <a:off x="2011680" y="4187952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StandardScaler applied to MonthlyCharges, TotalCharges</a:t>
            </a:r>
            <a:endParaRPr lang="en-US" sz="950" dirty="0"/>
          </a:p>
        </p:txBody>
      </p:sp>
      <p:sp>
        <p:nvSpPr>
          <p:cNvPr id="55" name="Text 46"/>
          <p:cNvSpPr/>
          <p:nvPr/>
        </p:nvSpPr>
        <p:spPr>
          <a:xfrm>
            <a:off x="6172200" y="4187952"/>
            <a:ext cx="27432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</a:rPr>
              <a:t>μ=0, σ=1 normalized features</a:t>
            </a:r>
            <a:endParaRPr lang="en-US" sz="950" dirty="0"/>
          </a:p>
        </p:txBody>
      </p:sp>
      <p:sp>
        <p:nvSpPr>
          <p:cNvPr id="56" name="Shape 47"/>
          <p:cNvSpPr/>
          <p:nvPr/>
        </p:nvSpPr>
        <p:spPr>
          <a:xfrm>
            <a:off x="164592" y="4507992"/>
            <a:ext cx="8823960" cy="310896"/>
          </a:xfrm>
          <a:prstGeom prst="rect">
            <a:avLst/>
          </a:prstGeom>
          <a:solidFill>
            <a:srgbClr val="0A1535"/>
          </a:solidFill>
          <a:ln w="12700">
            <a:solidFill>
              <a:srgbClr val="0A1535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256032" y="4507992"/>
            <a:ext cx="1737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8D9"/>
                </a:solidFill>
              </a:rPr>
              <a:t>Train/Test Split</a:t>
            </a:r>
            <a:endParaRPr lang="en-US" sz="950" dirty="0"/>
          </a:p>
        </p:txBody>
      </p:sp>
      <p:sp>
        <p:nvSpPr>
          <p:cNvPr id="58" name="Text 49"/>
          <p:cNvSpPr/>
          <p:nvPr/>
        </p:nvSpPr>
        <p:spPr>
          <a:xfrm>
            <a:off x="2011680" y="4507992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80% training (5,634 rows), 20% testing (1,409 rows)</a:t>
            </a:r>
            <a:endParaRPr lang="en-US" sz="950" dirty="0"/>
          </a:p>
        </p:txBody>
      </p:sp>
      <p:sp>
        <p:nvSpPr>
          <p:cNvPr id="59" name="Text 50"/>
          <p:cNvSpPr/>
          <p:nvPr/>
        </p:nvSpPr>
        <p:spPr>
          <a:xfrm>
            <a:off x="6172200" y="4507992"/>
            <a:ext cx="27432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</a:rPr>
              <a:t>Unbiased model evaluation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ensemble methods used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658368"/>
            <a:ext cx="4297680" cy="2084832"/>
          </a:xfrm>
          <a:prstGeom prst="roundRect">
            <a:avLst>
              <a:gd name="adj" fmla="val 5263"/>
            </a:avLst>
          </a:prstGeom>
          <a:solidFill>
            <a:srgbClr val="101C4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658368"/>
            <a:ext cx="42976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768096"/>
            <a:ext cx="594360" cy="594360"/>
          </a:xfrm>
          <a:prstGeom prst="ellipse">
            <a:avLst/>
          </a:prstGeom>
          <a:solidFill>
            <a:srgbClr val="0A0F2C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832104"/>
            <a:ext cx="466344" cy="4663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74980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05840" y="1078992"/>
            <a:ext cx="1463040" cy="219456"/>
          </a:xfrm>
          <a:prstGeom prst="roundRect">
            <a:avLst>
              <a:gd name="adj" fmla="val 25000"/>
            </a:avLst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10789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</a:rPr>
              <a:t>Classification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20040" y="140817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5E8"/>
                </a:solidFill>
              </a:rPr>
              <a:t>A linear model for binary classification. Simple, fast, and interpretable. Uses a sigmoid function to output probabilities.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2048256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" y="2002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Interpretable coefficients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2276856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208" y="2231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Works well on linearly separable data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2505456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1208" y="24597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Low computational cost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09160" y="658368"/>
            <a:ext cx="4297680" cy="2084832"/>
          </a:xfrm>
          <a:prstGeom prst="roundRect">
            <a:avLst>
              <a:gd name="adj" fmla="val 5263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09160" y="658368"/>
            <a:ext cx="4297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46320" y="768096"/>
            <a:ext cx="594360" cy="594360"/>
          </a:xfrm>
          <a:prstGeom prst="ellipse">
            <a:avLst/>
          </a:prstGeom>
          <a:solidFill>
            <a:srgbClr val="0A0F2C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832104"/>
            <a:ext cx="466344" cy="4663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532120" y="74980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Decision Tree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532120" y="1078992"/>
            <a:ext cx="1463040" cy="219456"/>
          </a:xfrm>
          <a:prstGeom prst="roundRect">
            <a:avLst>
              <a:gd name="adj" fmla="val 25000"/>
            </a:avLst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32120" y="10789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</a:rPr>
              <a:t>Classification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846320" y="140817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5E8"/>
                </a:solidFill>
              </a:rPr>
              <a:t>A tree-based model that splits data using feature thresholds. Easy to visualize but prone to overfitting.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892040" y="204825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47488" y="2002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Visual and interpretable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892040" y="227685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47488" y="2231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No feature scaling needed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92040" y="250545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047488" y="24597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Handles non-linearity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182880" y="2871216"/>
            <a:ext cx="4297680" cy="2084832"/>
          </a:xfrm>
          <a:prstGeom prst="roundRect">
            <a:avLst>
              <a:gd name="adj" fmla="val 5263"/>
            </a:avLst>
          </a:prstGeom>
          <a:solidFill>
            <a:srgbClr val="101C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82880" y="2871216"/>
            <a:ext cx="4297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320040" y="2980944"/>
            <a:ext cx="594360" cy="594360"/>
          </a:xfrm>
          <a:prstGeom prst="ellipse">
            <a:avLst/>
          </a:prstGeom>
          <a:solidFill>
            <a:srgbClr val="0A0F2C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044952"/>
            <a:ext cx="466344" cy="466344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005840" y="2962656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44" name="Shape 39"/>
          <p:cNvSpPr/>
          <p:nvPr/>
        </p:nvSpPr>
        <p:spPr>
          <a:xfrm>
            <a:off x="1005840" y="3291840"/>
            <a:ext cx="1463040" cy="219456"/>
          </a:xfrm>
          <a:prstGeom prst="roundRect">
            <a:avLst>
              <a:gd name="adj" fmla="val 25000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005840" y="32918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</a:rPr>
              <a:t>Ensemble Learning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320040" y="362102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5E8"/>
                </a:solidFill>
              </a:rPr>
              <a:t>An ensemble of multiple decision trees. Reduces overfitting through bagging and averaging of predictions.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365760" y="426110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521208" y="4215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Better generalization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365760" y="448970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21208" y="4443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Handles high-dimensional data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365760" y="471830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521208" y="4672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Robust to outliers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4709160" y="2871216"/>
            <a:ext cx="4297680" cy="2084832"/>
          </a:xfrm>
          <a:prstGeom prst="roundRect">
            <a:avLst>
              <a:gd name="adj" fmla="val 5263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4709160" y="2871216"/>
            <a:ext cx="4297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846320" y="2980944"/>
            <a:ext cx="594360" cy="594360"/>
          </a:xfrm>
          <a:prstGeom prst="ellipse">
            <a:avLst/>
          </a:prstGeom>
          <a:solidFill>
            <a:srgbClr val="0A0F2C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044952"/>
            <a:ext cx="466344" cy="466344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5532120" y="2962656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XGBoost</a:t>
            </a:r>
            <a:endParaRPr lang="en-US" sz="1400" dirty="0"/>
          </a:p>
        </p:txBody>
      </p:sp>
      <p:sp>
        <p:nvSpPr>
          <p:cNvPr id="58" name="Shape 52"/>
          <p:cNvSpPr/>
          <p:nvPr/>
        </p:nvSpPr>
        <p:spPr>
          <a:xfrm>
            <a:off x="5532120" y="3291840"/>
            <a:ext cx="1463040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5532120" y="32918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Ensemble Learning</a:t>
            </a:r>
            <a:endParaRPr lang="en-US" sz="850" dirty="0"/>
          </a:p>
        </p:txBody>
      </p:sp>
      <p:sp>
        <p:nvSpPr>
          <p:cNvPr id="60" name="Text 54"/>
          <p:cNvSpPr/>
          <p:nvPr/>
        </p:nvSpPr>
        <p:spPr>
          <a:xfrm>
            <a:off x="4846320" y="362102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5E8"/>
                </a:solidFill>
              </a:rPr>
              <a:t>A gradient boosting algorithm that builds trees sequentially, each correcting the errors of the previous one.</a:t>
            </a:r>
            <a:endParaRPr lang="en-US" sz="950" dirty="0"/>
          </a:p>
        </p:txBody>
      </p:sp>
      <p:sp>
        <p:nvSpPr>
          <p:cNvPr id="61" name="Shape 55"/>
          <p:cNvSpPr/>
          <p:nvPr/>
        </p:nvSpPr>
        <p:spPr>
          <a:xfrm>
            <a:off x="4892040" y="42611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5047488" y="4215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State-of-the-art performance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4892040" y="44897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047488" y="4443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Handles missing values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4892040" y="47183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5047488" y="4672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5E8"/>
                </a:solidFill>
              </a:rPr>
              <a:t>Built-in regularization</a:t>
            </a:r>
            <a:endParaRPr lang="en-US" sz="900" dirty="0"/>
          </a:p>
        </p:txBody>
      </p:sp>
      <p:sp>
        <p:nvSpPr>
          <p:cNvPr id="67" name="Shape 61"/>
          <p:cNvSpPr/>
          <p:nvPr/>
        </p:nvSpPr>
        <p:spPr>
          <a:xfrm>
            <a:off x="182880" y="4736592"/>
            <a:ext cx="4297680" cy="228600"/>
          </a:xfrm>
          <a:prstGeom prst="rect">
            <a:avLst/>
          </a:prstGeom>
          <a:solidFill>
            <a:srgbClr val="0E1A40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182880" y="47365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00B8D9"/>
                </a:solidFill>
              </a:rPr>
              <a:t>CLASSIFICATION MODELS</a:t>
            </a:r>
            <a:endParaRPr lang="en-US" sz="900" dirty="0"/>
          </a:p>
        </p:txBody>
      </p:sp>
      <p:sp>
        <p:nvSpPr>
          <p:cNvPr id="69" name="Shape 63"/>
          <p:cNvSpPr/>
          <p:nvPr/>
        </p:nvSpPr>
        <p:spPr>
          <a:xfrm>
            <a:off x="4709160" y="4736592"/>
            <a:ext cx="4297680" cy="228600"/>
          </a:xfrm>
          <a:prstGeom prst="rect">
            <a:avLst/>
          </a:prstGeom>
          <a:solidFill>
            <a:srgbClr val="0E1A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4709160" y="47365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A78BFA"/>
                </a:solidFill>
              </a:rPr>
              <a:t>ENSEMBLE LEARNING MODELS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Comparison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performed best?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658368"/>
            <a:ext cx="8778240" cy="868680"/>
          </a:xfrm>
          <a:prstGeom prst="roundRect">
            <a:avLst>
              <a:gd name="adj" fmla="val 12632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658368"/>
            <a:ext cx="8778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768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</a:rPr>
              <a:t>Best Result: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9966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Logistic Regression — 81.47% Accuracy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0" y="8503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</a:rPr>
              <a:t>Highest accuracy among all tested models on this dataset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28600" y="1664208"/>
          <a:ext cx="53035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5687568" y="1664208"/>
            <a:ext cx="3291840" cy="713232"/>
          </a:xfrm>
          <a:prstGeom prst="roundRect">
            <a:avLst>
              <a:gd name="adj" fmla="val 15385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87568" y="1664208"/>
            <a:ext cx="3291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42432" y="17739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F2C"/>
                </a:solidFill>
              </a:rPr>
              <a:t>BEST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42432" y="1773936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42432" y="17739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F2C"/>
                </a:solidFill>
              </a:rPr>
              <a:t>BEST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3093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1838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59E0B"/>
                </a:solidFill>
              </a:rPr>
              <a:t>81.47%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742432" y="2139696"/>
            <a:ext cx="3063240" cy="914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742432" y="2139696"/>
            <a:ext cx="2125889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87568" y="2468880"/>
            <a:ext cx="3291840" cy="713232"/>
          </a:xfrm>
          <a:prstGeom prst="roundRect">
            <a:avLst>
              <a:gd name="adj" fmla="val 15385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742432" y="25786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F2C"/>
                </a:solidFill>
              </a:rPr>
              <a:t>2ND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742432" y="2578608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742432" y="25786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F2C"/>
                </a:solidFill>
              </a:rPr>
              <a:t>2ND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30936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183880" y="2542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A78BFA"/>
                </a:solidFill>
              </a:rPr>
              <a:t>79.70%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5742432" y="2944368"/>
            <a:ext cx="3063240" cy="914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742432" y="2944368"/>
            <a:ext cx="1041502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87568" y="3273552"/>
            <a:ext cx="3291840" cy="713232"/>
          </a:xfrm>
          <a:prstGeom prst="roundRect">
            <a:avLst>
              <a:gd name="adj" fmla="val 15385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42432" y="33832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F2C"/>
                </a:solidFill>
              </a:rPr>
              <a:t>3RD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5742432" y="338328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742432" y="33832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F2C"/>
                </a:solidFill>
              </a:rPr>
              <a:t>3RD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6309360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8183880" y="33467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4B8A6"/>
                </a:solidFill>
              </a:rPr>
              <a:t>79.41%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5742432" y="3749040"/>
            <a:ext cx="3063240" cy="914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742432" y="3749040"/>
            <a:ext cx="863834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687568" y="4078224"/>
            <a:ext cx="3291840" cy="713232"/>
          </a:xfrm>
          <a:prstGeom prst="roundRect">
            <a:avLst>
              <a:gd name="adj" fmla="val 15385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742432" y="4187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F2C"/>
                </a:solidFill>
              </a:rPr>
              <a:t>3RD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5742432" y="4187952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742432" y="4187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F2C"/>
                </a:solidFill>
              </a:rPr>
              <a:t>3RD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6309360" y="4151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</a:rPr>
              <a:t>XGBoost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8183880" y="4151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97316"/>
                </a:solidFill>
              </a:rPr>
              <a:t>79.41%</a:t>
            </a:r>
            <a:endParaRPr lang="en-US" sz="1500" dirty="0"/>
          </a:p>
        </p:txBody>
      </p:sp>
      <p:sp>
        <p:nvSpPr>
          <p:cNvPr id="49" name="Shape 45"/>
          <p:cNvSpPr/>
          <p:nvPr/>
        </p:nvSpPr>
        <p:spPr>
          <a:xfrm>
            <a:off x="5742432" y="4553712"/>
            <a:ext cx="3063240" cy="914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5742432" y="4553712"/>
            <a:ext cx="863834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5687568" y="4892040"/>
            <a:ext cx="3291840" cy="0"/>
          </a:xfrm>
          <a:prstGeom prst="roundRect">
            <a:avLst>
              <a:gd name="adj" fmla="val Infinity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variables affecting customer churn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01168" y="658368"/>
          <a:ext cx="49377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5285232" y="6583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Feature Insights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85232" y="960120"/>
            <a:ext cx="3703320" cy="621792"/>
          </a:xfrm>
          <a:prstGeom prst="roundRect">
            <a:avLst>
              <a:gd name="adj" fmla="val 17647"/>
            </a:avLst>
          </a:prstGeom>
          <a:solidFill>
            <a:srgbClr val="101C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0515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987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MonthlyCharges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321040" y="9875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444"/>
                </a:solidFill>
              </a:rPr>
              <a:t>95%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760720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Higher charges = higher churn probability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285232" y="1673352"/>
            <a:ext cx="3703320" cy="621792"/>
          </a:xfrm>
          <a:prstGeom prst="roundRect">
            <a:avLst>
              <a:gd name="adj" fmla="val 17647"/>
            </a:avLst>
          </a:prstGeom>
          <a:solidFill>
            <a:srgbClr val="101C44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176479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60720" y="1700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TotalCharges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21040" y="17007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7316"/>
                </a:solidFill>
              </a:rPr>
              <a:t>88%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760720" y="1965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Reflects accumulated value &amp; engagement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285232" y="2386584"/>
            <a:ext cx="3703320" cy="621792"/>
          </a:xfrm>
          <a:prstGeom prst="roundRect">
            <a:avLst>
              <a:gd name="adj" fmla="val 17647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2478024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60720" y="2414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Tenure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321040" y="24140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</a:rPr>
              <a:t>81%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760720" y="26791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Longer tenure → stronger loyalty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285232" y="3099816"/>
            <a:ext cx="3703320" cy="621792"/>
          </a:xfrm>
          <a:prstGeom prst="roundRect">
            <a:avLst>
              <a:gd name="adj" fmla="val 17647"/>
            </a:avLst>
          </a:prstGeom>
          <a:solidFill>
            <a:srgbClr val="101C44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672" y="3191256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760720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Contract Type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321040" y="3127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78BFA"/>
                </a:solidFill>
              </a:rPr>
              <a:t>74%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760720" y="33924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Month-to-month contracts churn more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285232" y="3813048"/>
            <a:ext cx="3703320" cy="621792"/>
          </a:xfrm>
          <a:prstGeom prst="roundRect">
            <a:avLst>
              <a:gd name="adj" fmla="val 17647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3904488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76072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PaymentMethod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321040" y="3840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62%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5760720" y="41056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Auto-pay customers are more loyal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201168" y="489204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Note: Importance scores are illustrative based on model analysis.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 quality is measured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" y="658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9326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</a:rPr>
              <a:t>Predicted: NO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9326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</a:rPr>
              <a:t>Predicted: YES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" y="12801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Actual: NO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" y="2871216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Actual: YES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987552"/>
            <a:ext cx="1737360" cy="1463040"/>
          </a:xfrm>
          <a:prstGeom prst="rect">
            <a:avLst/>
          </a:prstGeom>
          <a:solidFill>
            <a:srgbClr val="101C4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987552"/>
            <a:ext cx="1737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0789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TN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True Negative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5E8"/>
                </a:solidFill>
              </a:rPr>
              <a:t>Correctly predicted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D5E8"/>
                </a:solidFill>
              </a:rPr>
              <a:t>as NOT churned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31720" y="987552"/>
            <a:ext cx="1737360" cy="1463040"/>
          </a:xfrm>
          <a:prstGeom prst="rect">
            <a:avLst/>
          </a:prstGeom>
          <a:solidFill>
            <a:srgbClr val="101C44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987552"/>
            <a:ext cx="17373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10789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</a:rPr>
              <a:t>FP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33172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False Positive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5E8"/>
                </a:solidFill>
              </a:rPr>
              <a:t>Incorrectly predicted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D5E8"/>
                </a:solidFill>
              </a:rPr>
              <a:t>as churned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578608"/>
            <a:ext cx="1737360" cy="1463040"/>
          </a:xfrm>
          <a:prstGeom prst="rect">
            <a:avLst/>
          </a:prstGeom>
          <a:solidFill>
            <a:srgbClr val="101C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578608"/>
            <a:ext cx="17373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670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FN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7200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False Negative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419856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5E8"/>
                </a:solidFill>
              </a:rPr>
              <a:t>Missed churner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D5E8"/>
                </a:solidFill>
              </a:rPr>
              <a:t>(worst case)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331720" y="2578608"/>
            <a:ext cx="1737360" cy="1463040"/>
          </a:xfrm>
          <a:prstGeom prst="rect">
            <a:avLst/>
          </a:prstGeom>
          <a:solidFill>
            <a:srgbClr val="101C44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2578608"/>
            <a:ext cx="173736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2670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</a:rPr>
              <a:t>TP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2331720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True Positive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31720" y="3419856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5E8"/>
                </a:solidFill>
              </a:rPr>
              <a:t>Correctly predicted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D5E8"/>
                </a:solidFill>
              </a:rPr>
              <a:t>as churned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0" y="658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Performance Metrics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0" y="987552"/>
            <a:ext cx="4389120" cy="868680"/>
          </a:xfrm>
          <a:prstGeom prst="roundRect">
            <a:avLst>
              <a:gd name="adj" fmla="val 12632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987552"/>
            <a:ext cx="54864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033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Precision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1307592"/>
            <a:ext cx="2194560" cy="219456"/>
          </a:xfrm>
          <a:prstGeom prst="roundRect">
            <a:avLst>
              <a:gd name="adj" fmla="val 25000"/>
            </a:avLst>
          </a:prstGeom>
          <a:solidFill>
            <a:srgbClr val="0A0F2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307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15544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Of all predicted churners, how many actually churned?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1975104"/>
            <a:ext cx="4389120" cy="868680"/>
          </a:xfrm>
          <a:prstGeom prst="roundRect">
            <a:avLst>
              <a:gd name="adj" fmla="val 12632"/>
            </a:avLst>
          </a:prstGeom>
          <a:solidFill>
            <a:srgbClr val="101C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0" y="1975104"/>
            <a:ext cx="54864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2020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Recall (Sensitivity)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09160" y="2295144"/>
            <a:ext cx="2194560" cy="219456"/>
          </a:xfrm>
          <a:prstGeom prst="roundRect">
            <a:avLst>
              <a:gd name="adj" fmla="val 25000"/>
            </a:avLst>
          </a:prstGeom>
          <a:solidFill>
            <a:srgbClr val="0A0F2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22951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09160" y="25420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Of all actual churners, how many did we catch?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0" y="2962656"/>
            <a:ext cx="4389120" cy="868680"/>
          </a:xfrm>
          <a:prstGeom prst="roundRect">
            <a:avLst>
              <a:gd name="adj" fmla="val 12632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2962656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3008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F1-Score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09160" y="3282696"/>
            <a:ext cx="2194560" cy="219456"/>
          </a:xfrm>
          <a:prstGeom prst="roundRect">
            <a:avLst>
              <a:gd name="adj" fmla="val 25000"/>
            </a:avLst>
          </a:prstGeom>
          <a:solidFill>
            <a:srgbClr val="0A0F2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32826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(P × R) / (P + R)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09160" y="35295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Harmonic mean of Precision and Recall — balanced metric.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0" y="3950208"/>
            <a:ext cx="4389120" cy="868680"/>
          </a:xfrm>
          <a:prstGeom prst="roundRect">
            <a:avLst>
              <a:gd name="adj" fmla="val 12632"/>
            </a:avLst>
          </a:prstGeom>
          <a:solidFill>
            <a:srgbClr val="101C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3950208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3995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Accuracy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09160" y="4270248"/>
            <a:ext cx="2194560" cy="219456"/>
          </a:xfrm>
          <a:prstGeom prst="roundRect">
            <a:avLst>
              <a:gd name="adj" fmla="val 25000"/>
            </a:avLst>
          </a:prstGeom>
          <a:solidFill>
            <a:srgbClr val="0A0F2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42702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 + TN) / Total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09160" y="45171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5E8"/>
                </a:solidFill>
              </a:rPr>
              <a:t>Overall correctness across all predictions.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82880" y="4846320"/>
            <a:ext cx="8778240" cy="201168"/>
          </a:xfrm>
          <a:prstGeom prst="rect">
            <a:avLst/>
          </a:prstGeom>
          <a:solidFill>
            <a:srgbClr val="0E1A40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8D9"/>
                </a:solidFill>
              </a:rPr>
              <a:t>Tip for Examiners: F1-Score is most important for imbalanced datasets where churners are the minority class.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vs Underfitting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behavior and generalization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658368"/>
            <a:ext cx="2816352" cy="3931920"/>
          </a:xfrm>
          <a:prstGeom prst="roundRect">
            <a:avLst>
              <a:gd name="adj" fmla="val 3896"/>
            </a:avLst>
          </a:prstGeom>
          <a:solidFill>
            <a:srgbClr val="101C4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658368"/>
            <a:ext cx="2816352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804672"/>
            <a:ext cx="1536192" cy="320040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8046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C"/>
                </a:solidFill>
              </a:rPr>
              <a:t>Underfitting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207008"/>
            <a:ext cx="530352" cy="53035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82880" y="181051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</a:rPr>
              <a:t>Too Simple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210312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5D5E8"/>
                </a:solidFill>
              </a:rPr>
              <a:t>Model fails to capture underlying patterns in data. High training AND test error.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2944368"/>
            <a:ext cx="2633472" cy="36576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7"/>
                </a:solidFill>
              </a:rPr>
              <a:t>Train Acc: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46304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7316"/>
                </a:solidFill>
              </a:rPr>
              <a:t>72%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" y="3310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7"/>
                </a:solidFill>
              </a:rPr>
              <a:t>Test Acc: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46304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</a:rPr>
              <a:t>70%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82880" y="3657600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7316"/>
                </a:solidFill>
              </a:rPr>
              <a:t>Too simple linear model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172968" y="658368"/>
            <a:ext cx="2816352" cy="3931920"/>
          </a:xfrm>
          <a:prstGeom prst="roundRect">
            <a:avLst>
              <a:gd name="adj" fmla="val 3896"/>
            </a:avLst>
          </a:prstGeom>
          <a:solidFill>
            <a:srgbClr val="101C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72968" y="658368"/>
            <a:ext cx="28163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13048" y="804672"/>
            <a:ext cx="1536192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13048" y="8046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C"/>
                </a:solidFill>
              </a:rPr>
              <a:t>Good Fit</a:t>
            </a:r>
            <a:endParaRPr lang="en-US" sz="13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207008"/>
            <a:ext cx="530352" cy="53035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172968" y="181051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Well Balanced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264408" y="210312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5D5E8"/>
                </a:solidFill>
              </a:rPr>
              <a:t>Model generalizes well. Low training error, low test error. This is our goal.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264408" y="2944368"/>
            <a:ext cx="2633472" cy="36576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64408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7"/>
                </a:solidFill>
              </a:rPr>
              <a:t>Train Acc: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45312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</a:rPr>
              <a:t>84%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3264408" y="3310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7"/>
                </a:solidFill>
              </a:rPr>
              <a:t>Test Acc: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453128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</a:rPr>
              <a:t>81%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3172968" y="3657600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Logistic Regression ✓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163056" y="658368"/>
            <a:ext cx="2816352" cy="3931920"/>
          </a:xfrm>
          <a:prstGeom prst="roundRect">
            <a:avLst>
              <a:gd name="adj" fmla="val 3896"/>
            </a:avLst>
          </a:prstGeom>
          <a:solidFill>
            <a:srgbClr val="101C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163056" y="658368"/>
            <a:ext cx="281635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803136" y="804672"/>
            <a:ext cx="1536192" cy="320040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03136" y="8046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C"/>
                </a:solidFill>
              </a:rPr>
              <a:t>Overfitting</a:t>
            </a:r>
            <a:endParaRPr lang="en-US" sz="130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1207008"/>
            <a:ext cx="530352" cy="53035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163056" y="181051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</a:rPr>
              <a:t>Too Complex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6254496" y="210312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5D5E8"/>
                </a:solidFill>
              </a:rPr>
              <a:t>Model memorizes training data. High train accuracy, poor test performance.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254496" y="2944368"/>
            <a:ext cx="2633472" cy="36576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254496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7"/>
                </a:solidFill>
              </a:rPr>
              <a:t>Train Acc: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744321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</a:rPr>
              <a:t>96%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6254496" y="3310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7"/>
                </a:solidFill>
              </a:rPr>
              <a:t>Test Acc: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7443216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</a:rPr>
              <a:t>79%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6163056" y="3657600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Deep Decision Tree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182880" y="4681728"/>
            <a:ext cx="8778240" cy="320040"/>
          </a:xfrm>
          <a:prstGeom prst="roundRect">
            <a:avLst>
              <a:gd name="adj" fmla="val 34286"/>
            </a:avLst>
          </a:prstGeom>
          <a:solidFill>
            <a:srgbClr val="101C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Our Project Result: Logistic Regression achieved a well-balanced fit with 81.47% test accuracy, close to train accuracy — minimal overfitting.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11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learning from the project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658368"/>
            <a:ext cx="8778240" cy="1261872"/>
          </a:xfrm>
          <a:prstGeom prst="roundRect">
            <a:avLst>
              <a:gd name="adj" fmla="val 8696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658368"/>
            <a:ext cx="8778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86968"/>
            <a:ext cx="640080" cy="640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749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</a:rPr>
              <a:t>🏆 Final Result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10058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Logistic Regression — 81.47% Accuracy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51560" y="14630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5E8"/>
                </a:solidFill>
              </a:rPr>
              <a:t>Best model among Logistic Regression, Decision Tree, Random Forest, and XGBoost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82880" y="20848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82880" y="2423160"/>
            <a:ext cx="4343400" cy="402336"/>
          </a:xfrm>
          <a:prstGeom prst="roundRect">
            <a:avLst>
              <a:gd name="adj" fmla="val 27273"/>
            </a:avLst>
          </a:prstGeom>
          <a:solidFill>
            <a:srgbClr val="101C44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8716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2648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E8"/>
                </a:solidFill>
              </a:rPr>
              <a:t>ML can accurately predict telecom customer churn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182880" y="2898648"/>
            <a:ext cx="4343400" cy="402336"/>
          </a:xfrm>
          <a:prstGeom prst="roundRect">
            <a:avLst>
              <a:gd name="adj" fmla="val 27273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6265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" y="2962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E8"/>
                </a:solidFill>
              </a:rPr>
              <a:t>Feature selection improves model interpretability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182880" y="3374136"/>
            <a:ext cx="4343400" cy="402336"/>
          </a:xfrm>
          <a:prstGeom prst="roundRect">
            <a:avLst>
              <a:gd name="adj" fmla="val 27273"/>
            </a:avLst>
          </a:prstGeom>
          <a:solidFill>
            <a:srgbClr val="101C4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3814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2648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E8"/>
                </a:solidFill>
              </a:rPr>
              <a:t>Simpler models can outperform complex ensemble methods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82880" y="3849624"/>
            <a:ext cx="4343400" cy="402336"/>
          </a:xfrm>
          <a:prstGeom prst="roundRect">
            <a:avLst>
              <a:gd name="adj" fmla="val 27273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1363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12648" y="3913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E8"/>
                </a:solidFill>
              </a:rPr>
              <a:t>Monthly charges &amp; tenure are strongest churn predictors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709160" y="20848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709160" y="2423160"/>
            <a:ext cx="4251960" cy="1920240"/>
          </a:xfrm>
          <a:prstGeom prst="roundRect">
            <a:avLst>
              <a:gd name="adj" fmla="val 5714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846320" y="2542032"/>
            <a:ext cx="39776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5D5E8"/>
                </a:solidFill>
              </a:rPr>
              <a:t>The project successfully compared classification and ensemble learning models on the Telco Customer Churn dataset.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5D5E8"/>
                </a:solidFill>
              </a:rPr>
              <a:t>The analysis demonstrates how machine learning can support customer retention strategies and reduce business revenue loss through predictive analytics.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5D5E8"/>
                </a:solidFill>
              </a:rPr>
              <a:t>Logistic Regression, despite its simplicity, proved most effective — a reminder that model complexity doesn't always guarantee better results.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82880" y="4480560"/>
            <a:ext cx="2057400" cy="530352"/>
          </a:xfrm>
          <a:prstGeom prst="roundRect">
            <a:avLst>
              <a:gd name="adj" fmla="val 20690"/>
            </a:avLst>
          </a:prstGeom>
          <a:solidFill>
            <a:srgbClr val="101C44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590288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5800" y="4581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Retention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2395728" y="4480560"/>
            <a:ext cx="2057400" cy="530352"/>
          </a:xfrm>
          <a:prstGeom prst="roundRect">
            <a:avLst>
              <a:gd name="adj" fmla="val 20690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456" y="4590288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898648" y="4581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Prediction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4608576" y="4480560"/>
            <a:ext cx="2057400" cy="530352"/>
          </a:xfrm>
          <a:prstGeom prst="roundRect">
            <a:avLst>
              <a:gd name="adj" fmla="val 20690"/>
            </a:avLst>
          </a:prstGeom>
          <a:solidFill>
            <a:srgbClr val="101C44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4590288"/>
            <a:ext cx="320040" cy="32004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111496" y="4581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Analysis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6821424" y="4480560"/>
            <a:ext cx="2057400" cy="530352"/>
          </a:xfrm>
          <a:prstGeom prst="roundRect">
            <a:avLst>
              <a:gd name="adj" fmla="val 20690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4590288"/>
            <a:ext cx="320040" cy="32004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324344" y="4581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Impact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3366">
              <a:alpha val="40000"/>
            </a:srgbClr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03355">
              <a:alpha val="30000"/>
            </a:srgbClr>
          </a:solidFill>
          <a:ln w="12700">
            <a:solidFill>
              <a:srgbClr val="00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533"/>
          </a:solidFill>
          <a:ln w="12700">
            <a:solidFill>
              <a:srgbClr val="0D1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4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17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and enhancements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MITAOE | AIML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" y="713232"/>
            <a:ext cx="4279392" cy="1901952"/>
          </a:xfrm>
          <a:prstGeom prst="roundRect">
            <a:avLst>
              <a:gd name="adj" fmla="val 5769"/>
            </a:avLst>
          </a:prstGeom>
          <a:solidFill>
            <a:srgbClr val="101C4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713232"/>
            <a:ext cx="4279392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850392"/>
            <a:ext cx="594360" cy="594360"/>
          </a:xfrm>
          <a:prstGeom prst="ellipse">
            <a:avLst/>
          </a:prstGeom>
          <a:solidFill>
            <a:srgbClr val="0A0F2C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914400"/>
            <a:ext cx="466344" cy="4663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69848" y="850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</a:rPr>
              <a:t>Deep Learning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69848" y="1243584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12435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</a:rPr>
              <a:t>STEP 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38328" y="1609344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5D5E8"/>
                </a:solidFill>
              </a:rPr>
              <a:t>LSTM and Neural Networks for sequential customer behavior modeling — capturing temporal churn patterns more accurately.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0016" y="713232"/>
            <a:ext cx="4279392" cy="1901952"/>
          </a:xfrm>
          <a:prstGeom prst="roundRect">
            <a:avLst>
              <a:gd name="adj" fmla="val 5769"/>
            </a:avLst>
          </a:prstGeom>
          <a:solidFill>
            <a:srgbClr val="101C4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0016" y="713232"/>
            <a:ext cx="4279392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64608" y="850392"/>
            <a:ext cx="594360" cy="594360"/>
          </a:xfrm>
          <a:prstGeom prst="ellipse">
            <a:avLst/>
          </a:prstGeom>
          <a:solidFill>
            <a:srgbClr val="0A0F2C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914400"/>
            <a:ext cx="466344" cy="4663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68696" y="850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</a:rPr>
              <a:t>Real-time Deployment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568696" y="1243584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68696" y="12435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</a:rPr>
              <a:t>STEP 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837176" y="1609344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5D5E8"/>
                </a:solidFill>
              </a:rPr>
              <a:t>REST API integration to deploy the churn predictor as a live microservice inside telecom CRM systems.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01168" y="2798064"/>
            <a:ext cx="4279392" cy="1901952"/>
          </a:xfrm>
          <a:prstGeom prst="roundRect">
            <a:avLst>
              <a:gd name="adj" fmla="val 5769"/>
            </a:avLst>
          </a:prstGeom>
          <a:solidFill>
            <a:srgbClr val="101C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01168" y="2798064"/>
            <a:ext cx="427939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65760" y="2935224"/>
            <a:ext cx="594360" cy="594360"/>
          </a:xfrm>
          <a:prstGeom prst="ellipse">
            <a:avLst/>
          </a:prstGeom>
          <a:solidFill>
            <a:srgbClr val="0A0F2C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999232"/>
            <a:ext cx="466344" cy="4663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69848" y="29352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AI Dashboards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1069848" y="3328416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69848" y="33284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</a:rPr>
              <a:t>STEP 3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338328" y="3694176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5D5E8"/>
                </a:solidFill>
              </a:rPr>
              <a:t>Interactive analytics dashboard with real-time churn risk scores, customer segments, and retention KPIs for business teams.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700016" y="2798064"/>
            <a:ext cx="4279392" cy="1901952"/>
          </a:xfrm>
          <a:prstGeom prst="roundRect">
            <a:avLst>
              <a:gd name="adj" fmla="val 5769"/>
            </a:avLst>
          </a:prstGeom>
          <a:solidFill>
            <a:srgbClr val="101C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700016" y="2798064"/>
            <a:ext cx="42793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864608" y="2935224"/>
            <a:ext cx="594360" cy="594360"/>
          </a:xfrm>
          <a:prstGeom prst="ellipse">
            <a:avLst/>
          </a:prstGeom>
          <a:solidFill>
            <a:srgbClr val="0A0F2C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2999232"/>
            <a:ext cx="466344" cy="4663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568696" y="29352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Customer Analytics</a:t>
            </a: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5568696" y="3328416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568696" y="33284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STEP 4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4837176" y="3694176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5D5E8"/>
                </a:solidFill>
              </a:rPr>
              <a:t>Personalized retention offers and smart notifications triggered automatically when churn probability exceeds threshold.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1A40"/>
          </a:solidFill>
          <a:ln w="12700">
            <a:solidFill>
              <a:srgbClr val="0E1A4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91440" y="485546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Deep Learning  ·  Real-time API  ·  AI Dashboards  ·  Customer Analytics  ·  Intelligent Retention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1A4D">
              <a:alpha val="55000"/>
            </a:srgbClr>
          </a:solidFill>
          <a:ln w="12700">
            <a:solidFill>
              <a:srgbClr val="001A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001A4D">
              <a:alpha val="50000"/>
            </a:srgbClr>
          </a:solidFill>
          <a:ln w="12700">
            <a:solidFill>
              <a:srgbClr val="001A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371600"/>
            <a:ext cx="2286000" cy="2286000"/>
          </a:xfrm>
          <a:prstGeom prst="ellipse">
            <a:avLst/>
          </a:prstGeom>
          <a:solidFill>
            <a:srgbClr val="002255">
              <a:alpha val="40000"/>
            </a:srgbClr>
          </a:solidFill>
          <a:ln w="12700">
            <a:solidFill>
              <a:srgbClr val="002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Questions &amp; Answers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0" y="2359152"/>
            <a:ext cx="2743200" cy="2743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514600"/>
            <a:ext cx="1920240" cy="621792"/>
          </a:xfrm>
          <a:prstGeom prst="roundRect">
            <a:avLst>
              <a:gd name="adj" fmla="val 17647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514600"/>
            <a:ext cx="192024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Ragav Sharma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852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202401110012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51176" y="2514600"/>
            <a:ext cx="1920240" cy="621792"/>
          </a:xfrm>
          <a:prstGeom prst="roundRect">
            <a:avLst>
              <a:gd name="adj" fmla="val 17647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1176" y="2514600"/>
            <a:ext cx="192024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Parth Kitchloo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51176" y="2852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202401110014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6864" y="2514600"/>
            <a:ext cx="1920240" cy="621792"/>
          </a:xfrm>
          <a:prstGeom prst="roundRect">
            <a:avLst>
              <a:gd name="adj" fmla="val 17647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2514600"/>
            <a:ext cx="192024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Gufran Shah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26864" y="2852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202401110011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02552" y="2514600"/>
            <a:ext cx="1920240" cy="621792"/>
          </a:xfrm>
          <a:prstGeom prst="roundRect">
            <a:avLst>
              <a:gd name="adj" fmla="val 17647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02552" y="2514600"/>
            <a:ext cx="192024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Sandeep Kotwal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02552" y="2852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202401110052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0" y="3291840"/>
            <a:ext cx="4572000" cy="804672"/>
          </a:xfrm>
          <a:prstGeom prst="roundRect">
            <a:avLst>
              <a:gd name="adj" fmla="val 13636"/>
            </a:avLst>
          </a:prstGeom>
          <a:solidFill>
            <a:srgbClr val="101C44"/>
          </a:solidFill>
          <a:ln w="12700">
            <a:solidFill>
              <a:srgbClr val="007A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3355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MIT Academy of Engineering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86000" y="3648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7"/>
                </a:solidFill>
              </a:rPr>
              <a:t>Department of Artificial Intelligence &amp; Machine Learning  |  Alandi, Pune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17520" y="4251960"/>
            <a:ext cx="3108960" cy="347472"/>
          </a:xfrm>
          <a:prstGeom prst="roundRect">
            <a:avLst>
              <a:gd name="adj" fmla="val 26316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4251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C"/>
                </a:solidFill>
              </a:rPr>
              <a:t>Customer Churn Prediction  ·  AIML Mini Project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42900"/>
          </a:xfrm>
          <a:prstGeom prst="rect">
            <a:avLst/>
          </a:prstGeom>
          <a:solidFill>
            <a:srgbClr val="0E1A40"/>
          </a:solidFill>
          <a:ln w="12700">
            <a:solidFill>
              <a:srgbClr val="0E1A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" y="476402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Machine Learning  ·  Telecom Analytics  ·  Customer Retention  ·  Classification  ·  Ensemble Learning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1363</Words>
  <Application>Microsoft Office PowerPoint</Application>
  <PresentationFormat>On-screen Show (16:9)</PresentationFormat>
  <Paragraphs>347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Using ML</dc:title>
  <dc:subject>PptxGenJS Presentation</dc:subject>
  <dc:creator>PptxGenJS</dc:creator>
  <cp:lastModifiedBy>HP</cp:lastModifiedBy>
  <cp:revision>2</cp:revision>
  <dcterms:created xsi:type="dcterms:W3CDTF">2026-05-17T11:08:03Z</dcterms:created>
  <dcterms:modified xsi:type="dcterms:W3CDTF">2026-05-17T11:14:04Z</dcterms:modified>
</cp:coreProperties>
</file>